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138" y="2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27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motivation: simplifying trip planning through personalized AI itineraries.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describe the problem: travelers want AI help that is truly personalized.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full-stack design. Flask handles UI, LangChain handles LLM prompts.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pipeline logic step-by-step. Emphasize prompt structure importance.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your prompt design philosophy and improvements from trial runs.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your live demo or screenshots of app results.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gpt‑4o‑mini is faster at low token counts, while gpt‑4.1 scales slower but richer responses.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 simulated costs; explain optimal temperature for balance between creativity and cost.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what worked best and why.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transparent about constraints; propose retrieval‑augmented enhancement.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roadmap—align with applied AI best practices.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confidently—highlight innovation, scalability, and relevance to AI in daily life.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8876cc40-604c-49f4-a2f6-9ec1e60d9b32-00-w8z19ng1r46u.picard.replit.dev/"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10058400" cy="914400"/>
          </a:xfrm>
          <a:prstGeom prst="rect">
            <a:avLst/>
          </a:prstGeom>
          <a:noFill/>
        </p:spPr>
        <p:txBody>
          <a:bodyPr wrap="none">
            <a:spAutoFit/>
          </a:bodyPr>
          <a:lstStyle/>
          <a:p>
            <a:endParaRPr/>
          </a:p>
          <a:p>
            <a:pPr>
              <a:defRPr sz="4000" b="1">
                <a:solidFill>
                  <a:srgbClr val="00C8B4"/>
                </a:solidFill>
              </a:defRPr>
            </a:pPr>
            <a:r>
              <a:t>AI Travel Itinerary Generator</a:t>
            </a:r>
          </a:p>
        </p:txBody>
      </p:sp>
      <p:sp>
        <p:nvSpPr>
          <p:cNvPr id="4" name="TextBox 3"/>
          <p:cNvSpPr txBox="1"/>
          <p:nvPr/>
        </p:nvSpPr>
        <p:spPr>
          <a:xfrm>
            <a:off x="914400" y="1645920"/>
            <a:ext cx="7168501" cy="1513235"/>
          </a:xfrm>
          <a:prstGeom prst="rect">
            <a:avLst/>
          </a:prstGeom>
          <a:noFill/>
        </p:spPr>
        <p:txBody>
          <a:bodyPr wrap="none">
            <a:spAutoFit/>
          </a:bodyPr>
          <a:lstStyle/>
          <a:p>
            <a:endParaRPr dirty="0"/>
          </a:p>
          <a:p>
            <a:pPr>
              <a:spcAft>
                <a:spcPts val="500"/>
              </a:spcAft>
              <a:defRPr sz="2200">
                <a:solidFill>
                  <a:srgbClr val="F0F0F0"/>
                </a:solidFill>
              </a:defRPr>
            </a:pPr>
            <a:r>
              <a:rPr dirty="0"/>
              <a:t>Generative AI + Personalization</a:t>
            </a:r>
          </a:p>
          <a:p>
            <a:pPr>
              <a:spcAft>
                <a:spcPts val="500"/>
              </a:spcAft>
              <a:defRPr sz="2200">
                <a:solidFill>
                  <a:srgbClr val="F0F0F0"/>
                </a:solidFill>
              </a:defRPr>
            </a:pPr>
            <a:r>
              <a:rPr dirty="0"/>
              <a:t>CAP 4630 – Intro to Artificial Intelligence</a:t>
            </a:r>
          </a:p>
          <a:p>
            <a:pPr>
              <a:spcAft>
                <a:spcPts val="500"/>
              </a:spcAft>
              <a:defRPr sz="2200">
                <a:solidFill>
                  <a:srgbClr val="F0F0F0"/>
                </a:solidFill>
              </a:defRPr>
            </a:pPr>
            <a:r>
              <a:rPr dirty="0"/>
              <a:t>Team: Curtis Williams </a:t>
            </a:r>
            <a:r>
              <a:rPr lang="en-US" dirty="0"/>
              <a:t>, </a:t>
            </a:r>
            <a:r>
              <a:rPr lang="en-US" sz="2200" dirty="0"/>
              <a:t>Kylie Capes and  Mackenzie VanMeter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10058400" cy="914400"/>
          </a:xfrm>
          <a:prstGeom prst="rect">
            <a:avLst/>
          </a:prstGeom>
          <a:noFill/>
        </p:spPr>
        <p:txBody>
          <a:bodyPr wrap="none">
            <a:spAutoFit/>
          </a:bodyPr>
          <a:lstStyle/>
          <a:p>
            <a:endParaRPr/>
          </a:p>
          <a:p>
            <a:pPr>
              <a:defRPr sz="4000" b="1">
                <a:solidFill>
                  <a:srgbClr val="00C8B4"/>
                </a:solidFill>
              </a:defRPr>
            </a:pPr>
            <a:r>
              <a:t>Objectives</a:t>
            </a:r>
          </a:p>
        </p:txBody>
      </p:sp>
      <p:sp>
        <p:nvSpPr>
          <p:cNvPr id="4" name="TextBox 3"/>
          <p:cNvSpPr txBox="1"/>
          <p:nvPr/>
        </p:nvSpPr>
        <p:spPr>
          <a:xfrm>
            <a:off x="914400" y="1645920"/>
            <a:ext cx="10515600" cy="4572000"/>
          </a:xfrm>
          <a:prstGeom prst="rect">
            <a:avLst/>
          </a:prstGeom>
          <a:noFill/>
        </p:spPr>
        <p:txBody>
          <a:bodyPr wrap="none">
            <a:spAutoFit/>
          </a:bodyPr>
          <a:lstStyle/>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Problem Overview</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Solution Overview</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System Architecture</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Pipeline Diagram</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Demo Walkthrough</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Evaluation (Cost &amp; Latency Charts)</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Limitations</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Future Work</a:t>
            </a:r>
          </a:p>
          <a:p>
            <a:pPr marL="0" algn="l" rtl="0" eaLnBrk="1" latinLnBrk="0" hangingPunct="1">
              <a:spcAft>
                <a:spcPts val="500"/>
              </a:spcAft>
              <a:buFont typeface="Arial" panose="020B0604020202020204" pitchFamily="34" charset="0"/>
              <a:buChar char="•"/>
            </a:pPr>
            <a:r>
              <a:rPr lang="en-US" sz="2200" dirty="0">
                <a:solidFill>
                  <a:srgbClr val="F0F0F0"/>
                </a:solidFill>
                <a:effectLst/>
                <a:latin typeface="Calibri" panose="020F0502020204030204" pitchFamily="34" charset="0"/>
              </a:rPr>
              <a:t>Conclusion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2289216" cy="984885"/>
          </a:xfrm>
          <a:prstGeom prst="rect">
            <a:avLst/>
          </a:prstGeom>
          <a:noFill/>
        </p:spPr>
        <p:txBody>
          <a:bodyPr wrap="none">
            <a:spAutoFit/>
          </a:bodyPr>
          <a:lstStyle/>
          <a:p>
            <a:endParaRPr dirty="0"/>
          </a:p>
          <a:p>
            <a:pPr>
              <a:defRPr sz="4000" b="1">
                <a:solidFill>
                  <a:srgbClr val="00C8B4"/>
                </a:solidFill>
              </a:defRPr>
            </a:pPr>
            <a:r>
              <a:rPr lang="en-US" dirty="0"/>
              <a:t>PROBLEM</a:t>
            </a:r>
            <a:endParaRPr dirty="0"/>
          </a:p>
        </p:txBody>
      </p:sp>
      <p:sp>
        <p:nvSpPr>
          <p:cNvPr id="4" name="TextBox 3"/>
          <p:cNvSpPr txBox="1"/>
          <p:nvPr/>
        </p:nvSpPr>
        <p:spPr>
          <a:xfrm>
            <a:off x="914400" y="1645920"/>
            <a:ext cx="10515600" cy="4572000"/>
          </a:xfrm>
          <a:prstGeom prst="rect">
            <a:avLst/>
          </a:prstGeom>
          <a:noFill/>
        </p:spPr>
        <p:txBody>
          <a:bodyPr wrap="none">
            <a:spAutoFit/>
          </a:bodyPr>
          <a:lstStyle/>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Travelers require fast, personalized itineraries</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Planning trips manually is time-consuming and stressful</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Estimating accurate budgets is challenging</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Numerous tools provide generic or partial suggestions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2385910" cy="984885"/>
          </a:xfrm>
          <a:prstGeom prst="rect">
            <a:avLst/>
          </a:prstGeom>
          <a:noFill/>
        </p:spPr>
        <p:txBody>
          <a:bodyPr wrap="none">
            <a:spAutoFit/>
          </a:bodyPr>
          <a:lstStyle/>
          <a:p>
            <a:endParaRPr dirty="0"/>
          </a:p>
          <a:p>
            <a:pPr>
              <a:defRPr sz="4000" b="1">
                <a:solidFill>
                  <a:srgbClr val="00C8B4"/>
                </a:solidFill>
              </a:defRPr>
            </a:pPr>
            <a:r>
              <a:rPr lang="en-US" dirty="0"/>
              <a:t>SOLUTION</a:t>
            </a:r>
            <a:endParaRPr dirty="0"/>
          </a:p>
        </p:txBody>
      </p:sp>
      <p:sp>
        <p:nvSpPr>
          <p:cNvPr id="4" name="TextBox 3"/>
          <p:cNvSpPr txBox="1"/>
          <p:nvPr/>
        </p:nvSpPr>
        <p:spPr>
          <a:xfrm>
            <a:off x="914400" y="1645920"/>
            <a:ext cx="8638583" cy="2444259"/>
          </a:xfrm>
          <a:prstGeom prst="rect">
            <a:avLst/>
          </a:prstGeom>
          <a:noFill/>
        </p:spPr>
        <p:txBody>
          <a:bodyPr wrap="none">
            <a:spAutoFit/>
          </a:bodyPr>
          <a:lstStyle/>
          <a:p>
            <a:pPr marL="0" algn="l" rtl="0" eaLnBrk="1" latinLnBrk="0" hangingPunct="1">
              <a:spcAft>
                <a:spcPts val="500"/>
              </a:spcAft>
            </a:pPr>
            <a:endParaRPr lang="en-US" sz="2200" dirty="0">
              <a:solidFill>
                <a:srgbClr val="F0F0F0"/>
              </a:solidFill>
              <a:effectLst/>
              <a:latin typeface="Calibri" panose="020F0502020204030204" pitchFamily="34" charset="0"/>
            </a:endParaRPr>
          </a:p>
          <a:p>
            <a:pPr marL="0" algn="l" rtl="0" eaLnBrk="1" latinLnBrk="0" hangingPunct="1">
              <a:spcAft>
                <a:spcPts val="500"/>
              </a:spcAft>
            </a:pPr>
            <a:r>
              <a:rPr lang="en-US" sz="2200" dirty="0">
                <a:solidFill>
                  <a:srgbClr val="F0F0F0"/>
                </a:solidFill>
                <a:effectLst/>
                <a:latin typeface="Calibri" panose="020F0502020204030204" pitchFamily="34" charset="0"/>
              </a:rPr>
              <a:t>• AI-powered itinerary generator utilizing OpenAI and </a:t>
            </a:r>
            <a:r>
              <a:rPr lang="en-US" sz="2200" dirty="0" err="1">
                <a:solidFill>
                  <a:srgbClr val="F0F0F0"/>
                </a:solidFill>
                <a:effectLst/>
                <a:latin typeface="Calibri" panose="020F0502020204030204" pitchFamily="34" charset="0"/>
              </a:rPr>
              <a:t>LangChain</a:t>
            </a:r>
            <a:endParaRPr lang="en-US" sz="2200" dirty="0">
              <a:solidFill>
                <a:srgbClr val="F0F0F0"/>
              </a:solidFill>
              <a:effectLst/>
              <a:latin typeface="Calibri" panose="020F0502020204030204" pitchFamily="34" charset="0"/>
            </a:endParaRPr>
          </a:p>
          <a:p>
            <a:pPr marL="0" algn="l" rtl="0" eaLnBrk="1" latinLnBrk="0" hangingPunct="1">
              <a:spcAft>
                <a:spcPts val="500"/>
              </a:spcAft>
            </a:pPr>
            <a:r>
              <a:rPr lang="en-US" sz="2200" dirty="0">
                <a:solidFill>
                  <a:srgbClr val="F0F0F0"/>
                </a:solidFill>
                <a:effectLst/>
                <a:latin typeface="Calibri" panose="020F0502020204030204" pitchFamily="34" charset="0"/>
              </a:rPr>
              <a:t>• Personalized activities tailored to user interests and budget</a:t>
            </a:r>
          </a:p>
          <a:p>
            <a:pPr marL="0" algn="l" rtl="0" eaLnBrk="1" latinLnBrk="0" hangingPunct="1">
              <a:spcAft>
                <a:spcPts val="500"/>
              </a:spcAft>
            </a:pPr>
            <a:r>
              <a:rPr lang="en-US" sz="2200" dirty="0">
                <a:solidFill>
                  <a:srgbClr val="F0F0F0"/>
                </a:solidFill>
                <a:effectLst/>
                <a:latin typeface="Calibri" panose="020F0502020204030204" pitchFamily="34" charset="0"/>
              </a:rPr>
              <a:t>• Structured daily schedule divided into morning, afternoon, and evening</a:t>
            </a:r>
          </a:p>
          <a:p>
            <a:pPr marL="0" algn="l" rtl="0" eaLnBrk="1" latinLnBrk="0" hangingPunct="1">
              <a:spcAft>
                <a:spcPts val="500"/>
              </a:spcAft>
            </a:pPr>
            <a:r>
              <a:rPr lang="en-US" sz="2200" dirty="0">
                <a:solidFill>
                  <a:srgbClr val="F0F0F0"/>
                </a:solidFill>
                <a:effectLst/>
                <a:latin typeface="Calibri" panose="020F0502020204030204" pitchFamily="34" charset="0"/>
              </a:rPr>
              <a:t>• Automatic budget estimation feature</a:t>
            </a:r>
          </a:p>
          <a:p>
            <a:pPr marL="0" algn="l" rtl="0" eaLnBrk="1" latinLnBrk="0" hangingPunct="1">
              <a:spcAft>
                <a:spcPts val="500"/>
              </a:spcAft>
            </a:pPr>
            <a:r>
              <a:rPr lang="en-US" sz="2200" dirty="0">
                <a:solidFill>
                  <a:srgbClr val="F0F0F0"/>
                </a:solidFill>
                <a:effectLst/>
                <a:latin typeface="Calibri" panose="020F0502020204030204" pitchFamily="34" charset="0"/>
              </a:rPr>
              <a:t>• Web interface with JSON output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4617098" cy="984885"/>
          </a:xfrm>
          <a:prstGeom prst="rect">
            <a:avLst/>
          </a:prstGeom>
          <a:noFill/>
        </p:spPr>
        <p:txBody>
          <a:bodyPr wrap="none">
            <a:spAutoFit/>
          </a:bodyPr>
          <a:lstStyle/>
          <a:p>
            <a:endParaRPr dirty="0"/>
          </a:p>
          <a:p>
            <a:pPr>
              <a:defRPr sz="4000" b="1">
                <a:solidFill>
                  <a:srgbClr val="00C8B4"/>
                </a:solidFill>
              </a:defRPr>
            </a:pPr>
            <a:r>
              <a:rPr lang="en-US" dirty="0"/>
              <a:t>SYSTEM</a:t>
            </a:r>
            <a:r>
              <a:rPr dirty="0"/>
              <a:t> </a:t>
            </a:r>
            <a:r>
              <a:rPr lang="en-US" dirty="0"/>
              <a:t>Architecture</a:t>
            </a:r>
            <a:endParaRPr dirty="0"/>
          </a:p>
        </p:txBody>
      </p:sp>
      <p:sp>
        <p:nvSpPr>
          <p:cNvPr id="4" name="TextBox 3"/>
          <p:cNvSpPr txBox="1"/>
          <p:nvPr/>
        </p:nvSpPr>
        <p:spPr>
          <a:xfrm>
            <a:off x="914400" y="1645920"/>
            <a:ext cx="10515600" cy="4572000"/>
          </a:xfrm>
          <a:prstGeom prst="rect">
            <a:avLst/>
          </a:prstGeom>
          <a:noFill/>
        </p:spPr>
        <p:txBody>
          <a:bodyPr wrap="none">
            <a:spAutoFit/>
          </a:bodyPr>
          <a:lstStyle/>
          <a:p>
            <a:r>
              <a:rPr lang="en-US" sz="2200">
                <a:solidFill>
                  <a:srgbClr val="F0F0F0"/>
                </a:solidFill>
                <a:effectLst/>
                <a:latin typeface="Calibri" panose="020F0502020204030204" pitchFamily="34" charset="0"/>
              </a:rPr>
              <a:t>• User submits trip preferences</a:t>
            </a:r>
            <a:br>
              <a:rPr lang="en-US" sz="2200">
                <a:solidFill>
                  <a:srgbClr val="F0F0F0"/>
                </a:solidFill>
                <a:effectLst/>
                <a:latin typeface="Calibri" panose="020F0502020204030204" pitchFamily="34" charset="0"/>
              </a:rPr>
            </a:br>
            <a:r>
              <a:rPr lang="en-US" sz="2200">
                <a:solidFill>
                  <a:srgbClr val="F0F0F0"/>
                </a:solidFill>
                <a:effectLst/>
                <a:latin typeface="Calibri" panose="020F0502020204030204" pitchFamily="34" charset="0"/>
              </a:rPr>
              <a:t>• Flask server receives request</a:t>
            </a:r>
            <a:br>
              <a:rPr lang="en-US" sz="2200">
                <a:solidFill>
                  <a:srgbClr val="F0F0F0"/>
                </a:solidFill>
                <a:effectLst/>
                <a:latin typeface="Calibri" panose="020F0502020204030204" pitchFamily="34" charset="0"/>
              </a:rPr>
            </a:br>
            <a:r>
              <a:rPr lang="en-US" sz="2200">
                <a:solidFill>
                  <a:srgbClr val="F0F0F0"/>
                </a:solidFill>
                <a:effectLst/>
                <a:latin typeface="Calibri" panose="020F0502020204030204" pitchFamily="34" charset="0"/>
              </a:rPr>
              <a:t>• LangChain builds structured prompt</a:t>
            </a:r>
            <a:br>
              <a:rPr lang="en-US" sz="2200">
                <a:solidFill>
                  <a:srgbClr val="F0F0F0"/>
                </a:solidFill>
                <a:effectLst/>
                <a:latin typeface="Calibri" panose="020F0502020204030204" pitchFamily="34" charset="0"/>
              </a:rPr>
            </a:br>
            <a:r>
              <a:rPr lang="en-US" sz="2200">
                <a:solidFill>
                  <a:srgbClr val="F0F0F0"/>
                </a:solidFill>
                <a:effectLst/>
                <a:latin typeface="Calibri" panose="020F0502020204030204" pitchFamily="34" charset="0"/>
              </a:rPr>
              <a:t>• OpenAI LLM generates itinerary JSON</a:t>
            </a:r>
            <a:br>
              <a:rPr lang="en-US" sz="2200">
                <a:solidFill>
                  <a:srgbClr val="F0F0F0"/>
                </a:solidFill>
                <a:effectLst/>
                <a:latin typeface="Calibri" panose="020F0502020204030204" pitchFamily="34" charset="0"/>
              </a:rPr>
            </a:br>
            <a:r>
              <a:rPr lang="en-US" sz="2200">
                <a:solidFill>
                  <a:srgbClr val="F0F0F0"/>
                </a:solidFill>
                <a:effectLst/>
                <a:latin typeface="Calibri" panose="020F0502020204030204" pitchFamily="34" charset="0"/>
              </a:rPr>
              <a:t>• Python parses + validates JSON</a:t>
            </a:r>
            <a:br>
              <a:rPr lang="en-US" sz="2200">
                <a:solidFill>
                  <a:srgbClr val="F0F0F0"/>
                </a:solidFill>
                <a:effectLst/>
                <a:latin typeface="Calibri" panose="020F0502020204030204" pitchFamily="34" charset="0"/>
              </a:rPr>
            </a:br>
            <a:r>
              <a:rPr lang="en-US" sz="2200">
                <a:solidFill>
                  <a:srgbClr val="F0F0F0"/>
                </a:solidFill>
                <a:effectLst/>
                <a:latin typeface="Calibri" panose="020F0502020204030204" pitchFamily="34" charset="0"/>
              </a:rPr>
              <a:t>• Budget module calculates costs</a:t>
            </a:r>
            <a:br>
              <a:rPr lang="en-US" sz="2200">
                <a:solidFill>
                  <a:srgbClr val="F0F0F0"/>
                </a:solidFill>
                <a:effectLst/>
                <a:latin typeface="Calibri" panose="020F0502020204030204" pitchFamily="34" charset="0"/>
              </a:rPr>
            </a:br>
            <a:r>
              <a:rPr lang="en-US" sz="2200">
                <a:solidFill>
                  <a:srgbClr val="F0F0F0"/>
                </a:solidFill>
                <a:effectLst/>
                <a:latin typeface="Calibri" panose="020F0502020204030204" pitchFamily="34" charset="0"/>
              </a:rPr>
              <a:t>• HTML template displays final itinerary</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086" y="-163285"/>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4062459" cy="984885"/>
          </a:xfrm>
          <a:prstGeom prst="rect">
            <a:avLst/>
          </a:prstGeom>
          <a:noFill/>
        </p:spPr>
        <p:txBody>
          <a:bodyPr wrap="none">
            <a:spAutoFit/>
          </a:bodyPr>
          <a:lstStyle/>
          <a:p>
            <a:endParaRPr dirty="0"/>
          </a:p>
          <a:p>
            <a:pPr>
              <a:defRPr sz="4000" b="1">
                <a:solidFill>
                  <a:srgbClr val="00C8B4"/>
                </a:solidFill>
              </a:defRPr>
            </a:pPr>
            <a:r>
              <a:rPr lang="en-US" dirty="0"/>
              <a:t>PIPLINE DIAGRAM</a:t>
            </a:r>
            <a:endParaRPr dirty="0"/>
          </a:p>
        </p:txBody>
      </p:sp>
      <p:sp>
        <p:nvSpPr>
          <p:cNvPr id="4" name="TextBox 3"/>
          <p:cNvSpPr txBox="1"/>
          <p:nvPr/>
        </p:nvSpPr>
        <p:spPr>
          <a:xfrm>
            <a:off x="195943" y="1645920"/>
            <a:ext cx="11234057" cy="1513235"/>
          </a:xfrm>
          <a:prstGeom prst="rect">
            <a:avLst/>
          </a:prstGeom>
          <a:noFill/>
        </p:spPr>
        <p:txBody>
          <a:bodyPr wrap="square">
            <a:spAutoFit/>
          </a:bodyPr>
          <a:lstStyle/>
          <a:p>
            <a:r>
              <a:rPr lang="en-US" sz="2200" dirty="0">
                <a:solidFill>
                  <a:srgbClr val="F0F0F0"/>
                </a:solidFill>
                <a:effectLst/>
                <a:latin typeface="Calibri" panose="020F0502020204030204" pitchFamily="34" charset="0"/>
              </a:rPr>
              <a:t>The pipeline diagram represents the process flow starting from User Input, which includes destination, budget, party size, and dietary preferences. This input is sent to the Flask Server, which then forwards it to the </a:t>
            </a:r>
            <a:r>
              <a:rPr lang="en-US" sz="2200" dirty="0" err="1">
                <a:solidFill>
                  <a:srgbClr val="F0F0F0"/>
                </a:solidFill>
                <a:effectLst/>
                <a:latin typeface="Calibri" panose="020F0502020204030204" pitchFamily="34" charset="0"/>
              </a:rPr>
              <a:t>LangChain</a:t>
            </a:r>
            <a:r>
              <a:rPr lang="en-US" sz="2200" dirty="0">
                <a:solidFill>
                  <a:srgbClr val="F0F0F0"/>
                </a:solidFill>
                <a:effectLst/>
                <a:latin typeface="Calibri" panose="020F0502020204030204" pitchFamily="34" charset="0"/>
              </a:rPr>
              <a:t> Prompt. The prompt interacts with the OpenAI Model to generate responses. The responses undergo JSON Parsing, followed by processing through the Budget Calculator. Finally, the output is displayed on the Web UI.</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Live Demo</a:t>
            </a:r>
          </a:p>
          <a:p>
            <a:pPr algn="ctr"/>
            <a:r>
              <a:rPr lang="en-US" dirty="0">
                <a:hlinkClick r:id="rId3"/>
              </a:rPr>
              <a:t>https://8876cc40-604c-49f4-a2f6-9ec1e60d9b32-00-w8z19ng1r46u.picard.replit.dev/</a:t>
            </a:r>
            <a:endParaRPr lang="en-US" dirty="0"/>
          </a:p>
          <a:p>
            <a:pPr algn="ctr"/>
            <a:endParaRPr lang="en-US" dirty="0"/>
          </a:p>
          <a:p>
            <a:pPr algn="ctr"/>
            <a:r>
              <a:rPr lang="en-US" dirty="0"/>
              <a:t>(Hosted on </a:t>
            </a:r>
            <a:r>
              <a:rPr lang="en-US" dirty="0" err="1"/>
              <a:t>Replit</a:t>
            </a:r>
            <a:r>
              <a:rPr lang="en-US" dirty="0"/>
              <a:t>)</a:t>
            </a:r>
          </a:p>
        </p:txBody>
      </p:sp>
      <p:sp>
        <p:nvSpPr>
          <p:cNvPr id="3" name="TextBox 2"/>
          <p:cNvSpPr txBox="1"/>
          <p:nvPr/>
        </p:nvSpPr>
        <p:spPr>
          <a:xfrm>
            <a:off x="731520" y="640080"/>
            <a:ext cx="2603598" cy="984885"/>
          </a:xfrm>
          <a:prstGeom prst="rect">
            <a:avLst/>
          </a:prstGeom>
          <a:noFill/>
        </p:spPr>
        <p:txBody>
          <a:bodyPr wrap="none">
            <a:spAutoFit/>
          </a:bodyPr>
          <a:lstStyle/>
          <a:p>
            <a:endParaRPr dirty="0"/>
          </a:p>
          <a:p>
            <a:pPr>
              <a:defRPr sz="4000" b="1">
                <a:solidFill>
                  <a:srgbClr val="00C8B4"/>
                </a:solidFill>
              </a:defRPr>
            </a:pPr>
            <a:r>
              <a:rPr lang="en-US" dirty="0"/>
              <a:t>Demo Slide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6592767" cy="984885"/>
          </a:xfrm>
          <a:prstGeom prst="rect">
            <a:avLst/>
          </a:prstGeom>
          <a:noFill/>
        </p:spPr>
        <p:txBody>
          <a:bodyPr wrap="none">
            <a:spAutoFit/>
          </a:bodyPr>
          <a:lstStyle/>
          <a:p>
            <a:endParaRPr dirty="0"/>
          </a:p>
          <a:p>
            <a:pPr>
              <a:defRPr sz="4000" b="1">
                <a:solidFill>
                  <a:srgbClr val="00C8B4"/>
                </a:solidFill>
              </a:defRPr>
            </a:pPr>
            <a:r>
              <a:rPr lang="en-US" dirty="0"/>
              <a:t>EVALUATION SLIDE ( LATENCY)</a:t>
            </a:r>
            <a:endParaRPr dirty="0"/>
          </a:p>
        </p:txBody>
      </p:sp>
      <p:pic>
        <p:nvPicPr>
          <p:cNvPr id="5" name="Picture 4" descr="cost_comparison.png">
            <a:extLst>
              <a:ext uri="{FF2B5EF4-FFF2-40B4-BE49-F238E27FC236}">
                <a16:creationId xmlns:a16="http://schemas.microsoft.com/office/drawing/2014/main" id="{506ACFCE-64CE-42C7-C4D8-6B9D115227F4}"/>
              </a:ext>
            </a:extLst>
          </p:cNvPr>
          <p:cNvPicPr>
            <a:picLocks noChangeAspect="1"/>
          </p:cNvPicPr>
          <p:nvPr/>
        </p:nvPicPr>
        <p:blipFill>
          <a:blip r:embed="rId3"/>
          <a:stretch>
            <a:fillRect/>
          </a:stretch>
        </p:blipFill>
        <p:spPr>
          <a:xfrm>
            <a:off x="1828800" y="2011680"/>
            <a:ext cx="60960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8908208" cy="984885"/>
          </a:xfrm>
          <a:prstGeom prst="rect">
            <a:avLst/>
          </a:prstGeom>
          <a:noFill/>
        </p:spPr>
        <p:txBody>
          <a:bodyPr wrap="none">
            <a:spAutoFit/>
          </a:bodyPr>
          <a:lstStyle/>
          <a:p>
            <a:endParaRPr dirty="0"/>
          </a:p>
          <a:p>
            <a:pPr>
              <a:defRPr sz="4000" b="1">
                <a:solidFill>
                  <a:srgbClr val="00C8B4"/>
                </a:solidFill>
              </a:defRPr>
            </a:pPr>
            <a:r>
              <a:rPr lang="en-US" dirty="0"/>
              <a:t>EVALUATION SLIDE ( COST COMPARISON)</a:t>
            </a:r>
            <a:endParaRPr dirty="0"/>
          </a:p>
        </p:txBody>
      </p:sp>
      <p:sp>
        <p:nvSpPr>
          <p:cNvPr id="4" name="TextBox 3"/>
          <p:cNvSpPr txBox="1"/>
          <p:nvPr/>
        </p:nvSpPr>
        <p:spPr>
          <a:xfrm>
            <a:off x="914400" y="1645920"/>
            <a:ext cx="184731" cy="707886"/>
          </a:xfrm>
          <a:prstGeom prst="rect">
            <a:avLst/>
          </a:prstGeom>
          <a:noFill/>
        </p:spPr>
        <p:txBody>
          <a:bodyPr wrap="none">
            <a:spAutoFit/>
          </a:bodyPr>
          <a:lstStyle/>
          <a:p>
            <a:endParaRPr dirty="0"/>
          </a:p>
          <a:p>
            <a:pPr>
              <a:spcAft>
                <a:spcPts val="500"/>
              </a:spcAft>
              <a:defRPr sz="2200">
                <a:solidFill>
                  <a:srgbClr val="F0F0F0"/>
                </a:solidFill>
              </a:defRPr>
            </a:pPr>
            <a:endParaRPr dirty="0"/>
          </a:p>
        </p:txBody>
      </p:sp>
      <p:pic>
        <p:nvPicPr>
          <p:cNvPr id="5" name="Picture 4" descr="cost_comparison.png">
            <a:extLst>
              <a:ext uri="{FF2B5EF4-FFF2-40B4-BE49-F238E27FC236}">
                <a16:creationId xmlns:a16="http://schemas.microsoft.com/office/drawing/2014/main" id="{9B9E7060-AFAF-4B05-51CB-04FF0B4034F4}"/>
              </a:ext>
            </a:extLst>
          </p:cNvPr>
          <p:cNvPicPr>
            <a:picLocks noChangeAspect="1"/>
          </p:cNvPicPr>
          <p:nvPr/>
        </p:nvPicPr>
        <p:blipFill>
          <a:blip r:embed="rId3"/>
          <a:stretch>
            <a:fillRect/>
          </a:stretch>
        </p:blipFill>
        <p:spPr>
          <a:xfrm>
            <a:off x="1828800" y="2011680"/>
            <a:ext cx="6096000"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10058400" cy="914400"/>
          </a:xfrm>
          <a:prstGeom prst="rect">
            <a:avLst/>
          </a:prstGeom>
          <a:noFill/>
        </p:spPr>
        <p:txBody>
          <a:bodyPr wrap="none">
            <a:spAutoFit/>
          </a:bodyPr>
          <a:lstStyle/>
          <a:p>
            <a:endParaRPr/>
          </a:p>
          <a:p>
            <a:pPr>
              <a:defRPr sz="4000" b="1">
                <a:solidFill>
                  <a:srgbClr val="00C8B4"/>
                </a:solidFill>
              </a:defRPr>
            </a:pPr>
            <a:r>
              <a:t>Limitations</a:t>
            </a:r>
          </a:p>
        </p:txBody>
      </p:sp>
      <p:sp>
        <p:nvSpPr>
          <p:cNvPr id="4" name="TextBox 3"/>
          <p:cNvSpPr txBox="1"/>
          <p:nvPr/>
        </p:nvSpPr>
        <p:spPr>
          <a:xfrm>
            <a:off x="914400" y="1645920"/>
            <a:ext cx="10515600" cy="4572000"/>
          </a:xfrm>
          <a:prstGeom prst="rect">
            <a:avLst/>
          </a:prstGeom>
          <a:noFill/>
        </p:spPr>
        <p:txBody>
          <a:bodyPr wrap="none">
            <a:spAutoFit/>
          </a:bodyPr>
          <a:lstStyle/>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Requires stable internet connection and API availability</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Language model outputs may occasionally be inconsistent</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Budget estimates are approximate and not sourced</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Limited access to real-time data such as weather, events, and prices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4655570" cy="984885"/>
          </a:xfrm>
          <a:prstGeom prst="rect">
            <a:avLst/>
          </a:prstGeom>
          <a:noFill/>
        </p:spPr>
        <p:txBody>
          <a:bodyPr wrap="none">
            <a:spAutoFit/>
          </a:bodyPr>
          <a:lstStyle/>
          <a:p>
            <a:endParaRPr dirty="0"/>
          </a:p>
          <a:p>
            <a:pPr>
              <a:defRPr sz="4000" b="1">
                <a:solidFill>
                  <a:srgbClr val="00C8B4"/>
                </a:solidFill>
              </a:defRPr>
            </a:pPr>
            <a:r>
              <a:rPr lang="en-US" dirty="0"/>
              <a:t>FUTURE WORK SLIDE</a:t>
            </a:r>
            <a:endParaRPr dirty="0"/>
          </a:p>
        </p:txBody>
      </p:sp>
      <p:sp>
        <p:nvSpPr>
          <p:cNvPr id="4" name="TextBox 3"/>
          <p:cNvSpPr txBox="1"/>
          <p:nvPr/>
        </p:nvSpPr>
        <p:spPr>
          <a:xfrm>
            <a:off x="914400" y="1645920"/>
            <a:ext cx="10515600" cy="4572000"/>
          </a:xfrm>
          <a:prstGeom prst="rect">
            <a:avLst/>
          </a:prstGeom>
          <a:noFill/>
        </p:spPr>
        <p:txBody>
          <a:bodyPr wrap="none">
            <a:spAutoFit/>
          </a:bodyPr>
          <a:lstStyle/>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Integrate live weather and event data</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Add hotel and flight recommendation APIs</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Implement user accounts and saved itineraries</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Enhance real-time budget accuracy</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1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10058400" cy="914400"/>
          </a:xfrm>
          <a:prstGeom prst="rect">
            <a:avLst/>
          </a:prstGeom>
          <a:noFill/>
        </p:spPr>
        <p:txBody>
          <a:bodyPr wrap="none">
            <a:spAutoFit/>
          </a:bodyPr>
          <a:lstStyle/>
          <a:p>
            <a:endParaRPr/>
          </a:p>
          <a:p>
            <a:pPr>
              <a:defRPr sz="4000" b="1">
                <a:solidFill>
                  <a:srgbClr val="00C8B4"/>
                </a:solidFill>
              </a:defRPr>
            </a:pPr>
            <a:r>
              <a:t>Conclusion</a:t>
            </a:r>
          </a:p>
        </p:txBody>
      </p:sp>
      <p:sp>
        <p:nvSpPr>
          <p:cNvPr id="4" name="TextBox 3"/>
          <p:cNvSpPr txBox="1"/>
          <p:nvPr/>
        </p:nvSpPr>
        <p:spPr>
          <a:xfrm>
            <a:off x="914400" y="1645920"/>
            <a:ext cx="10515600" cy="4572000"/>
          </a:xfrm>
          <a:prstGeom prst="rect">
            <a:avLst/>
          </a:prstGeom>
          <a:noFill/>
        </p:spPr>
        <p:txBody>
          <a:bodyPr wrap="none">
            <a:spAutoFit/>
          </a:bodyPr>
          <a:lstStyle/>
          <a:p>
            <a:pPr marL="0" algn="l" rtl="0" eaLnBrk="1" latinLnBrk="0" hangingPunct="1">
              <a:spcAft>
                <a:spcPts val="500"/>
              </a:spcAft>
              <a:buNone/>
            </a:pPr>
            <a:r>
              <a:rPr lang="en-US" sz="2200">
                <a:solidFill>
                  <a:srgbClr val="F0F0F0"/>
                </a:solidFill>
                <a:effectLst/>
                <a:latin typeface="Calibri" panose="020F0502020204030204" pitchFamily="34" charset="0"/>
              </a:rPr>
              <a:t>In conclusion:</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AI has the potential to streamline and customize travel planning.</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Our system produces detailed and high-quality daily itineraries.</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It integrates budgeting, clear explanations, and supports multiple models.</a:t>
            </a:r>
          </a:p>
          <a:p>
            <a:pPr marL="0" algn="l" rtl="0" eaLnBrk="1" latinLnBrk="0" hangingPunct="1">
              <a:spcAft>
                <a:spcPts val="500"/>
              </a:spcAft>
              <a:buFont typeface="Arial" panose="020B0604020202020204" pitchFamily="34" charset="0"/>
              <a:buChar char="•"/>
            </a:pPr>
            <a:r>
              <a:rPr lang="en-US" sz="2200">
                <a:solidFill>
                  <a:srgbClr val="F0F0F0"/>
                </a:solidFill>
                <a:effectLst/>
                <a:latin typeface="Calibri" panose="020F0502020204030204" pitchFamily="34" charset="0"/>
              </a:rPr>
              <a:t>Future enhancements aim to enable fully real-time operation and increased intelligence.</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534</Words>
  <Application>Microsoft Office PowerPoint</Application>
  <PresentationFormat>Custom</PresentationFormat>
  <Paragraphs>78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leticha morales</cp:lastModifiedBy>
  <cp:revision>3</cp:revision>
  <dcterms:created xsi:type="dcterms:W3CDTF">2013-01-27T09:14:16Z</dcterms:created>
  <dcterms:modified xsi:type="dcterms:W3CDTF">2025-11-24T08:03:38Z</dcterms:modified>
  <cp:category/>
</cp:coreProperties>
</file>